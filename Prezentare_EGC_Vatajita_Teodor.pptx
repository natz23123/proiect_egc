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923"/>
    <a:srgbClr val="00D4C8"/>
    <a:srgbClr val="3AA4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9FD457-5B22-41E0-A9D0-C9F43EB4F7C9}">
  <a:tblStyle styleId="{2D9FD457-5B22-41E0-A9D0-C9F43EB4F7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307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19456" y="4389120"/>
            <a:ext cx="8924544" cy="9144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3" descr="preencoded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7498080" y="6400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457200" y="2743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Universitatea Transilvania din Brașov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5943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Facultatea IESC · Dept. Automatică și 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109728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 URBANĂ 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178308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3600"/>
              <a:buFont typeface="Calibri"/>
              <a:buNone/>
            </a:pPr>
            <a:r>
              <a:rPr lang="en-US" sz="3800" b="1" dirty="0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CU PARTICULE </a:t>
            </a:r>
            <a:r>
              <a:rPr lang="en-US" sz="3600" b="1" i="0" u="none" strike="noStrike" cap="none" dirty="0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ȘI EFECTE DE ILUMINARE</a:t>
            </a:r>
            <a:endParaRPr sz="3600" b="0" i="0" u="none" strike="noStrike" cap="none" dirty="0">
              <a:solidFill>
                <a:srgbClr val="00D4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2606040"/>
            <a:ext cx="3657600" cy="36576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Proiect EGC · Elemente de Grafică pe Calculator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3246120"/>
            <a:ext cx="1280160" cy="320040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57200" y="32461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OpenGL 1.1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847088" y="3246120"/>
            <a:ext cx="576072" cy="320040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847088" y="3246120"/>
            <a:ext cx="5760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C++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532888" y="3246120"/>
            <a:ext cx="1078992" cy="320040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2532888" y="3246120"/>
            <a:ext cx="107899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FreeGLUT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721608" y="3246120"/>
            <a:ext cx="2286000" cy="320040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3721608" y="32461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Sisteme de particule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117336" y="3246120"/>
            <a:ext cx="2084832" cy="320040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6117336" y="3246120"/>
            <a:ext cx="208483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Iluminare dinamică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Vatajita Teodor-Florin  ·  Gr. 4LF342, TI II  ·  Brașov,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21792" y="146304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Cuprins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65760" y="777240"/>
            <a:ext cx="4114800" cy="114300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52" y="1097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1042416" y="868680"/>
            <a:ext cx="45720" cy="96012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170432" y="88696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Introducere &amp; Configurare mediu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170432" y="1298448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Setup Visual Studio,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FreeGLUT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75488" y="850392"/>
            <a:ext cx="347472" cy="347472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75488" y="8503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754880" y="777240"/>
            <a:ext cx="4114800" cy="114300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9472" y="1097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5431536" y="868680"/>
            <a:ext cx="45720" cy="96012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5559552" y="88696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Tema proiectului &amp; Obiective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559552" y="1298448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Scenă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urbană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obiective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tehnice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864608" y="850392"/>
            <a:ext cx="347472" cy="347472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864608" y="8503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65760" y="2103120"/>
            <a:ext cx="4114800" cy="114300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" name="Google Shape;59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352" y="2423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1042416" y="2194560"/>
            <a:ext cx="45720" cy="96012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1170432" y="221284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Arhitectura aplicației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170432" y="2624328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Structura modulară, fluxul de date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75488" y="2176272"/>
            <a:ext cx="347472" cy="347472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75488" y="21762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54880" y="2103120"/>
            <a:ext cx="4114800" cy="114300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19472" y="2423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5431536" y="2194560"/>
            <a:ext cx="45720" cy="96012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5559552" y="221284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Implementare tehnică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559552" y="2624328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OpenGL,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subsisteme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cheie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864608" y="2176272"/>
            <a:ext cx="347472" cy="347472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864608" y="21762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65760" y="3429000"/>
            <a:ext cx="4114800" cy="114300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0352" y="3749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/>
          <p:nvPr/>
        </p:nvSpPr>
        <p:spPr>
          <a:xfrm>
            <a:off x="1042416" y="3520440"/>
            <a:ext cx="45720" cy="96012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1170432" y="353872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Testare &amp; Rezultate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170432" y="3950208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Validare vizuală, performanță 60 FPS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75488" y="3502152"/>
            <a:ext cx="347472" cy="347472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75488" y="3502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754880" y="3429000"/>
            <a:ext cx="4114800" cy="114300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19472" y="3749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5431536" y="3520440"/>
            <a:ext cx="45720" cy="96012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5559552" y="353872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Concluzii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559552" y="3950208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Integrare finală, demonstrarea competențelor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864608" y="3502152"/>
            <a:ext cx="347472" cy="347472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864608" y="3502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21792" y="146304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Introducere &amp; Configurare Mediu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7772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Contextul proiectului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48640" y="1188720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Aplicație grafică 3D interactivă dezvoltată în C++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48640" y="1536192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Utilizează pipeline-ul fix OpenGL 1.1 + FreeGLUT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1883664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 </a:t>
            </a:r>
            <a:r>
              <a:rPr lang="en-US" sz="12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urbană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animată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timp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real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52123" y="2235708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 sz="12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dezvoltare</a:t>
            </a:r>
            <a:r>
              <a:rPr lang="en-US" sz="12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Microsoft Visual Studio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754880" y="685800"/>
            <a:ext cx="4023360" cy="416052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937760" y="80467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Stack tehnologic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910328" y="1225296"/>
            <a:ext cx="512064" cy="512064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2741" y="1327709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5577840" y="12984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C++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577840" y="160934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Limbaj principal, performanță ridicată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910328" y="2048256"/>
            <a:ext cx="512064" cy="512064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2741" y="2150669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5577840" y="21214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OpenGL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577840" y="24323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Pipeline fix,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randare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2D/3D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910328" y="2871216"/>
            <a:ext cx="512064" cy="512064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12741" y="2973629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5577840" y="29443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FreeGLUT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577840" y="325526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Ferestre, input, timer callbacks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910328" y="3694176"/>
            <a:ext cx="512064" cy="512064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12741" y="3796589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5577840" y="376732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stb_image.h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577840" y="407822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Încărcare texturi PNG/BMP/PPM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7200" y="3977640"/>
            <a:ext cx="4023360" cy="36576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57200" y="406908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Pași configurare Visual Studio: Headers → Lib dirs → Linker deps → DLL output → Test minimal ✓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21792" y="146304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Tema Proiectului &amp; Obiective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74980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Scenă urbană nocturnă cu estetică brutalistă și atmosferă noir, vizualizată din perspectiva unui balcon suspendat.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65760" y="1389888"/>
            <a:ext cx="4114800" cy="105156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512064" y="1682496"/>
            <a:ext cx="475488" cy="475488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162" y="17775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1152144" y="148132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Cartier procedural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152144" y="182880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Algoritmi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randomizare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pentru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etaje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textură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fațadă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754880" y="1389888"/>
            <a:ext cx="4114800" cy="105156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901184" y="1682496"/>
            <a:ext cx="475488" cy="475488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6282" y="17775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5541264" y="148132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Iluminare hibridă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541264" y="182880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Spotlight stradal + lumină punct (jar) + ciclu temporal zi/noapte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65760" y="2560320"/>
            <a:ext cx="4114800" cy="105156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512064" y="2852928"/>
            <a:ext cx="475488" cy="475488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" name="Google Shape;139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7162" y="2948026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1152144" y="265176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Sisteme de particule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152144" y="2999232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Ploaie (1500 picături) + Fum țigară cu Billboarding &amp; Alpha Blend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754880" y="2560320"/>
            <a:ext cx="4114800" cy="105156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901184" y="2852928"/>
            <a:ext cx="475488" cy="475488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96282" y="2948026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5541264" y="265176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Țigară interactivă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541264" y="2999232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Obiect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3D cu pick-up (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tasta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E)</a:t>
            </a:r>
            <a:r>
              <a:rPr lang="en-US" sz="1100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animație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fumat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tasta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F)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65760" y="3730752"/>
            <a:ext cx="4114800" cy="105156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12064" y="4023360"/>
            <a:ext cx="475488" cy="475488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7162" y="4118458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1152144" y="382219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Cameră First-Person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52144" y="4169664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Control WASD + mouse, coliziuni matematice cu pereții balconului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754880" y="3730752"/>
            <a:ext cx="4114800" cy="105156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901184" y="4023360"/>
            <a:ext cx="475488" cy="475488"/>
          </a:xfrm>
          <a:prstGeom prst="ellipse">
            <a:avLst/>
          </a:prstGeom>
          <a:solidFill>
            <a:srgbClr val="0A8F87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96282" y="4118458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5541264" y="382219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Billboard pisică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541264" y="4169664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Textură PNG cu canal Alpha, Alpha Testing pentru contur organic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7"/>
          <p:cNvCxnSpPr/>
          <p:nvPr/>
        </p:nvCxnSpPr>
        <p:spPr>
          <a:xfrm>
            <a:off x="4572000" y="1088136"/>
            <a:ext cx="3063240" cy="694944"/>
          </a:xfrm>
          <a:prstGeom prst="straightConnector1">
            <a:avLst/>
          </a:prstGeom>
          <a:noFill/>
          <a:ln w="15225" cap="flat" cmpd="sng">
            <a:solidFill>
              <a:srgbClr val="00D4C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2" name="Google Shape;162;p7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621792" y="146304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Arhitectura Aplicației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65760" y="1737360"/>
            <a:ext cx="2286000" cy="100584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57200" y="2121408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Generare procedurală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blocuri + stradă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338942" y="3172968"/>
            <a:ext cx="2286000" cy="100584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1338942" y="3172968"/>
            <a:ext cx="2286000" cy="347472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338942" y="317296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Rain.h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430382" y="355701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Sistemul</a:t>
            </a:r>
            <a:r>
              <a:rPr lang="en-US" sz="10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particule</a:t>
            </a:r>
            <a:r>
              <a:rPr lang="en-US" sz="10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pentru </a:t>
            </a: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ploaie</a:t>
            </a:r>
            <a:endParaRPr lang="en-US" sz="1000" b="0" i="0" u="none" strike="noStrike" cap="none" dirty="0">
              <a:solidFill>
                <a:srgbClr val="A0AE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lang="en-US" sz="1000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Picaturi</a:t>
            </a:r>
            <a:r>
              <a:rPr lang="en-US" sz="1000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00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ploaie</a:t>
            </a:r>
            <a:r>
              <a:rPr lang="en-US" sz="1000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534912" y="1737360"/>
            <a:ext cx="2286000" cy="100584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6626352" y="2121408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Balcon, </a:t>
            </a: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Stalpi</a:t>
            </a:r>
            <a:r>
              <a:rPr lang="en-US" sz="10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, Billboard </a:t>
            </a: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Pisica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27618" y="3201924"/>
            <a:ext cx="2286000" cy="100584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5427618" y="3201924"/>
            <a:ext cx="2286000" cy="347472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5427618" y="320192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Player.h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519058" y="358597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FPS camera, yaw/pitch,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coliziuni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7"/>
          <p:cNvCxnSpPr/>
          <p:nvPr/>
        </p:nvCxnSpPr>
        <p:spPr>
          <a:xfrm flipH="1">
            <a:off x="1554480" y="1088136"/>
            <a:ext cx="3017520" cy="694944"/>
          </a:xfrm>
          <a:prstGeom prst="straightConnector1">
            <a:avLst/>
          </a:prstGeom>
          <a:noFill/>
          <a:ln w="15225" cap="flat" cmpd="sng">
            <a:solidFill>
              <a:srgbClr val="00D4C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92" name="Google Shape;192;p7"/>
          <p:cNvCxnSpPr>
            <a:cxnSpLocks/>
            <a:endCxn id="180" idx="0"/>
          </p:cNvCxnSpPr>
          <p:nvPr/>
        </p:nvCxnSpPr>
        <p:spPr>
          <a:xfrm flipH="1">
            <a:off x="2481942" y="1088136"/>
            <a:ext cx="2090058" cy="2084832"/>
          </a:xfrm>
          <a:prstGeom prst="straightConnector1">
            <a:avLst/>
          </a:prstGeom>
          <a:noFill/>
          <a:ln w="15225" cap="flat" cmpd="sng">
            <a:solidFill>
              <a:srgbClr val="00D4C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93" name="Google Shape;193;p7"/>
          <p:cNvCxnSpPr>
            <a:cxnSpLocks/>
            <a:endCxn id="176" idx="0"/>
          </p:cNvCxnSpPr>
          <p:nvPr/>
        </p:nvCxnSpPr>
        <p:spPr>
          <a:xfrm flipH="1">
            <a:off x="4610318" y="923544"/>
            <a:ext cx="4354" cy="997857"/>
          </a:xfrm>
          <a:prstGeom prst="straightConnector1">
            <a:avLst/>
          </a:prstGeom>
          <a:noFill/>
          <a:ln w="15225" cap="flat" cmpd="sng">
            <a:solidFill>
              <a:srgbClr val="00D4C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96" name="Google Shape;196;p7"/>
          <p:cNvCxnSpPr>
            <a:cxnSpLocks/>
            <a:endCxn id="188" idx="0"/>
          </p:cNvCxnSpPr>
          <p:nvPr/>
        </p:nvCxnSpPr>
        <p:spPr>
          <a:xfrm>
            <a:off x="4572000" y="1088136"/>
            <a:ext cx="1998618" cy="2113788"/>
          </a:xfrm>
          <a:prstGeom prst="straightConnector1">
            <a:avLst/>
          </a:prstGeom>
          <a:noFill/>
          <a:ln w="15225" cap="flat" cmpd="sng">
            <a:solidFill>
              <a:srgbClr val="00D4C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7" name="Google Shape;197;p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Flux: GLUT timer → update() → display() → swap buffers (60 FPS)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291840" y="658368"/>
            <a:ext cx="2560320" cy="868680"/>
          </a:xfrm>
          <a:prstGeom prst="rect">
            <a:avLst/>
          </a:prstGeom>
          <a:solidFill>
            <a:srgbClr val="0A8F87"/>
          </a:solidFill>
          <a:ln>
            <a:noFill/>
          </a:ln>
          <a:effectLst>
            <a:outerShdw blurRad="127000" dist="38100" dir="81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7"/>
          <p:cNvSpPr/>
          <p:nvPr/>
        </p:nvSpPr>
        <p:spPr>
          <a:xfrm>
            <a:off x="3291840" y="658368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main.cpp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291840" y="105156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Entry point · GLUT callbacks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65760" y="1737360"/>
            <a:ext cx="2286000" cy="347472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365760" y="17373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City.h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467318" y="1921401"/>
            <a:ext cx="2286000" cy="100584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558758" y="2305449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Sistemul</a:t>
            </a:r>
            <a:r>
              <a:rPr lang="en-US" sz="10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particule</a:t>
            </a:r>
            <a:r>
              <a:rPr lang="en-US" sz="10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particule</a:t>
            </a:r>
            <a:r>
              <a:rPr lang="en-US" sz="10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pentru </a:t>
            </a: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fumul</a:t>
            </a:r>
            <a:r>
              <a:rPr lang="en-US" sz="10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de la </a:t>
            </a: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tigara</a:t>
            </a:r>
            <a:r>
              <a:rPr lang="en-US" sz="10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+ model </a:t>
            </a:r>
            <a:r>
              <a:rPr lang="en-US" sz="10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tigara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467318" y="1921401"/>
            <a:ext cx="2286000" cy="347472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467318" y="1921401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Cigarette.h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534912" y="1737360"/>
            <a:ext cx="2286000" cy="347472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534912" y="17373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Assets.h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21792" y="146304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Implementare Tehnică — Subsisteme Cheie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20040" y="749808"/>
            <a:ext cx="4069080" cy="233172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320040" y="749808"/>
            <a:ext cx="4069080" cy="475488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8229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813816" y="81381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Sistemul de Iluminare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02920" y="134416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GL_LIGHT0: ambiental global, variabil cu timeOfDay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02920" y="185623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GL_LIGHT2/3: Spotlight stâlpi, unghi 25°, exp 50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02920" y="236829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GL_LIGHT1: Jar țigară, atenuare cuadratică 5.0f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663440" y="749808"/>
            <a:ext cx="4069080" cy="233172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663440" y="749808"/>
            <a:ext cx="4069080" cy="475488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4" name="Google Shape;21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4880" y="8229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5157216" y="81381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Ploaie — 1500 Particule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846320" y="134416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Generare batch 15/cadru, direcție randomizată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846320" y="185623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Coliziune cu tavanul balconului (AABB)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846320" y="236829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 Alpha 0.4→0 + offset vânt (wind drift)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20040" y="2542032"/>
            <a:ext cx="4069080" cy="233172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320040" y="2542032"/>
            <a:ext cx="4069080" cy="475488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" name="Google Shape;221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480" y="261518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/>
          <p:nvPr/>
        </p:nvSpPr>
        <p:spPr>
          <a:xfrm>
            <a:off x="813816" y="26060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Fum Țigară — Billboarding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02920" y="31363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Extragere vectori right/up din matricea ModelView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02920" y="364845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Alpha Blending GL_SRC_ALPHA, fade-out cu life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02920" y="41605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Intensificare vizuală la modul 'heavySmoke'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663440" y="2542032"/>
            <a:ext cx="4069080" cy="233172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663440" y="2542032"/>
            <a:ext cx="4069080" cy="475488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4880" y="261518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/>
          <p:nvPr/>
        </p:nvSpPr>
        <p:spPr>
          <a:xfrm>
            <a:off x="5157216" y="26060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Cameră</a:t>
            </a: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First-Person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846320" y="31363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Mișcare WASD + rotație mouse (yaw/pitch)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846320" y="364845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Pitch clampat la ±1.5 rad (no flip)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846320" y="41605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Coliziuni: restaurare oldX/oldZ la limita balcon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621792" y="146304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Implementare Tehnică — Texturare &amp; Generare Procedurală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20040" y="749808"/>
            <a:ext cx="4069080" cy="416052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320040" y="749808"/>
            <a:ext cx="4069080" cy="457200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57200" y="74980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Sistemul de texturare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57200" y="13258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Librărie: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572768" y="13258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stb_image.h — BMP, PPM, PNG cu Alpha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57200" y="175564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Flip Y: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572768" y="175564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stbi_set_flip_vertically_on_load(true)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57200" y="2185416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Mod blend: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572768" y="218541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GL_SRC_ALPHA / GL_ONE_MINUS_SRC_ALPHA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57200" y="2615184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Skybox: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572768" y="261518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PPM → canal R ca transparență nori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57200" y="304495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Clădiri: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572768" y="304495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Pool 4 texturi perete + textură intrare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57200" y="34747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Billboard: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572768" y="34747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PNG canal Alpha + Alpha Testing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57200" y="390448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GL_MODULATE: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572768" y="390448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Iluminare × textură pentru realism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57200" y="4334256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Fallback: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572768" y="433425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Culoare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solid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dacă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textura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lipsește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663440" y="749808"/>
            <a:ext cx="4069080" cy="4160520"/>
          </a:xfrm>
          <a:prstGeom prst="rect">
            <a:avLst/>
          </a:prstGeom>
          <a:solidFill>
            <a:srgbClr val="182535"/>
          </a:solidFill>
          <a:ln>
            <a:noFill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663440" y="749808"/>
            <a:ext cx="4069080" cy="457200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800600" y="74980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Generare Procedurală Oraș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800600" y="1353312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 dirty="0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Clădiri</a:t>
            </a:r>
            <a:r>
              <a:rPr lang="en-US" sz="11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cu 1 - 14 </a:t>
            </a:r>
            <a:r>
              <a:rPr lang="en-US" sz="11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etaje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predefinite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pentru 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umplerea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scenei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800600" y="1828800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Amprenta la sol și spațierea generate aleator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800600" y="2304288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Fațade cu textură unică per etaj din pool de 4 texturi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800600" y="2779776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 dirty="0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Subdivizare</a:t>
            </a:r>
            <a:r>
              <a:rPr lang="en-US" sz="11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sol </a:t>
            </a:r>
            <a:r>
              <a:rPr lang="en-US" sz="11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sz="11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grid 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-US" sz="11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iluminare</a:t>
            </a:r>
            <a:r>
              <a:rPr lang="en-US" sz="11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spotlight </a:t>
            </a:r>
            <a:r>
              <a:rPr lang="en-US" sz="11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vizibilă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800600" y="3255264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Stradă texturată asfalt umed, subdivizată identic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800600" y="3730752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Stâlpi de iluminat plasați procedural pe stradă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800600" y="4206240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Generare o singură dată (init_city()) — reused per frame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621792" y="146304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Concluzii Generale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1" descr="preencoded.png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502920" y="6949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1"/>
          <p:cNvSpPr/>
          <p:nvPr/>
        </p:nvSpPr>
        <p:spPr>
          <a:xfrm>
            <a:off x="960120" y="649224"/>
            <a:ext cx="45720" cy="64008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1115568" y="649224"/>
            <a:ext cx="450871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Integrare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completă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conceptelor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EGC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1115568" y="950976"/>
            <a:ext cx="450871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Geometrie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3D,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iluminare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texturare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particule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și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interacțiune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1" descr="preencoded.png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502920" y="14996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1"/>
          <p:cNvSpPr/>
          <p:nvPr/>
        </p:nvSpPr>
        <p:spPr>
          <a:xfrm>
            <a:off x="960120" y="1453896"/>
            <a:ext cx="45720" cy="64008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1115568" y="1453896"/>
            <a:ext cx="450871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urban procedural realist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115568" y="1755648"/>
            <a:ext cx="450871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Cartier de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blocuri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unic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fiecare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rulare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iluminare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stradală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ciclu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zi-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noapte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11" descr="preencoded.png"/>
          <p:cNvPicPr preferRelativeResize="0"/>
          <p:nvPr/>
        </p:nvPicPr>
        <p:blipFill rotWithShape="1">
          <a:blip r:embed="rId5">
            <a:alphaModFix amt="80000"/>
          </a:blip>
          <a:srcRect/>
          <a:stretch/>
        </p:blipFill>
        <p:spPr>
          <a:xfrm>
            <a:off x="502920" y="23042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1"/>
          <p:cNvSpPr/>
          <p:nvPr/>
        </p:nvSpPr>
        <p:spPr>
          <a:xfrm>
            <a:off x="960120" y="2258568"/>
            <a:ext cx="45720" cy="64008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1115568" y="2258568"/>
            <a:ext cx="450871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Sisteme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particule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funcționale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115568" y="2560320"/>
            <a:ext cx="450871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Ploaie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cu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coliziuni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fizice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și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fum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cu billboarding &amp; alpha blending.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11" descr="preencoded.png"/>
          <p:cNvPicPr preferRelativeResize="0"/>
          <p:nvPr/>
        </p:nvPicPr>
        <p:blipFill rotWithShape="1">
          <a:blip r:embed="rId6">
            <a:alphaModFix amt="80000"/>
          </a:blip>
          <a:srcRect/>
          <a:stretch/>
        </p:blipFill>
        <p:spPr>
          <a:xfrm>
            <a:off x="502920" y="31089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960120" y="3063240"/>
            <a:ext cx="45720" cy="64008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1115568" y="3104389"/>
            <a:ext cx="499262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Arhitectură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modulară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și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extensibilă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1115568" y="3385567"/>
            <a:ext cx="49926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Fișiere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header separate per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subsistem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, cod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organizat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orientat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pe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obiecte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11" descr="preencoded.png"/>
          <p:cNvPicPr preferRelativeResize="0"/>
          <p:nvPr/>
        </p:nvPicPr>
        <p:blipFill rotWithShape="1">
          <a:blip r:embed="rId7">
            <a:alphaModFix amt="80000"/>
          </a:blip>
          <a:srcRect/>
          <a:stretch/>
        </p:blipFill>
        <p:spPr>
          <a:xfrm>
            <a:off x="502920" y="39136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1"/>
          <p:cNvSpPr/>
          <p:nvPr/>
        </p:nvSpPr>
        <p:spPr>
          <a:xfrm>
            <a:off x="960120" y="3867912"/>
            <a:ext cx="45720" cy="64008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1115568" y="3867912"/>
            <a:ext cx="450871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Testare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riguroasă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și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stabilitate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1115568" y="4169664"/>
            <a:ext cx="450871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60 FPS stabil, fără memory leaks, toate componentele validate individual.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320040" y="4617720"/>
            <a:ext cx="8503920" cy="36576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57200" y="470916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Pipeline-ul fixed-function OpenGL 1.1 poate produce rezultate vizuale atmosferice si imersive prin combinarea atenta a tehnicilor clasice de randare.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F87"/>
          </a:solidFill>
          <a:ln w="12700" cap="flat" cmpd="sng">
            <a:solidFill>
              <a:srgbClr val="0A8F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19456" y="4389120"/>
            <a:ext cx="8924544" cy="91440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2743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C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0D4C8"/>
                </a:solidFill>
                <a:latin typeface="Calibri"/>
                <a:ea typeface="Calibri"/>
                <a:cs typeface="Calibri"/>
                <a:sym typeface="Calibri"/>
              </a:rPr>
              <a:t>Universitatea Transilvania din Brașov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5943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Facultatea IESC · Dept. Automatică și 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851660" y="1619141"/>
            <a:ext cx="566013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Multumesc pentru </a:t>
            </a:r>
            <a:r>
              <a:rPr lang="en-US" sz="3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atentie</a:t>
            </a:r>
            <a:r>
              <a:rPr lang="en-US" sz="3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781991" y="2428385"/>
            <a:ext cx="5566518" cy="49638"/>
          </a:xfrm>
          <a:prstGeom prst="rect">
            <a:avLst/>
          </a:prstGeom>
          <a:solidFill>
            <a:srgbClr val="00D4C8"/>
          </a:solidFill>
          <a:ln w="12700" cap="flat" cmpd="sng">
            <a:solidFill>
              <a:srgbClr val="00D4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750457" y="3698746"/>
            <a:ext cx="364308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Proiect</a:t>
            </a:r>
            <a:r>
              <a:rPr lang="en-US" sz="14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EGC · </a:t>
            </a:r>
            <a:r>
              <a:rPr lang="en-US" sz="14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Elemente</a:t>
            </a:r>
            <a:r>
              <a:rPr lang="en-US" sz="14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4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Grafică</a:t>
            </a:r>
            <a:r>
              <a:rPr lang="en-US" sz="14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pe Calculator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2834421" y="2665477"/>
            <a:ext cx="346165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Vatajita Teodor-Florin  ·  Gr. 4LF342, TI II  ·  </a:t>
            </a:r>
            <a:r>
              <a:rPr lang="en-US" sz="1100" b="0" i="0" u="none" strike="noStrike" cap="none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Brașov</a:t>
            </a:r>
            <a:r>
              <a:rPr lang="en-US" sz="1100" b="0" i="0" u="none" strike="noStrike" cap="none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, 2026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0963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878</Words>
  <Application>Microsoft Office PowerPoint</Application>
  <PresentationFormat>On-screen Show (16:9)</PresentationFormat>
  <Paragraphs>146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Teodor Vatajita</cp:lastModifiedBy>
  <cp:revision>30</cp:revision>
  <dcterms:modified xsi:type="dcterms:W3CDTF">2026-05-24T20:28:37Z</dcterms:modified>
</cp:coreProperties>
</file>