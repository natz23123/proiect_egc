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4" r:id="rId10"/>
    <p:sldId id="265" r:id="rId1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923"/>
    <a:srgbClr val="00D4C8"/>
    <a:srgbClr val="3AA4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9FD457-5B22-41E0-A9D0-C9F43EB4F7C9}">
  <a:tblStyle styleId="{2D9FD457-5B22-41E0-A9D0-C9F43EB4F7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6" d="100"/>
          <a:sy n="136" d="100"/>
        </p:scale>
        <p:origin x="85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6209C483-1FCB-0679-FDEA-6770821B7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>
            <a:extLst>
              <a:ext uri="{FF2B5EF4-FFF2-40B4-BE49-F238E27FC236}">
                <a16:creationId xmlns:a16="http://schemas.microsoft.com/office/drawing/2014/main" id="{C37F0B93-E937-4A96-4CDA-C70ADCC1D9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5:notes">
            <a:extLst>
              <a:ext uri="{FF2B5EF4-FFF2-40B4-BE49-F238E27FC236}">
                <a16:creationId xmlns:a16="http://schemas.microsoft.com/office/drawing/2014/main" id="{569A61BE-38B9-BEAF-1BE9-1AE0AFC43C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>
            <a:extLst>
              <a:ext uri="{FF2B5EF4-FFF2-40B4-BE49-F238E27FC236}">
                <a16:creationId xmlns:a16="http://schemas.microsoft.com/office/drawing/2014/main" id="{D19D6D01-9FE9-4E96-9E06-BEE7A606D9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85730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8" name="Google Shape;28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5307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219456" y="4389120"/>
            <a:ext cx="8924544" cy="9144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457200" y="1097280"/>
            <a:ext cx="84124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SCENA URBANĂ 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1783080"/>
            <a:ext cx="84124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3600"/>
              <a:buFont typeface="Calibri"/>
              <a:buNone/>
            </a:pPr>
            <a:r>
              <a:rPr lang="en-US" sz="3800" b="1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CU PARTICULE </a:t>
            </a:r>
            <a:r>
              <a:rPr lang="en-US" sz="3600" b="1" i="0" u="none" strike="noStrike" cap="none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ȘI EFECTE DE ILUMINARE</a:t>
            </a:r>
            <a:endParaRPr sz="3600" b="0" i="0" u="none" strike="noStrike" cap="none" dirty="0">
              <a:solidFill>
                <a:srgbClr val="00D4C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57200" y="2606040"/>
            <a:ext cx="3657600" cy="36576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Proiect EGC · Elemente de Grafică pe Calculator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Vatajita Teodor-Florin  ·  Gr. 4LF342, TI II  ·  Brașov,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Cuprins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365760" y="77724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246" y="1376876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1042416" y="86868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1170432" y="88696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Introducere &amp; Configurare mediu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170432" y="129844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Setup Visual Studio,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FreeGLUT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475488" y="85039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75488" y="8503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754880" y="77724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" name="Google Shape;52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63553" y="13216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/>
          <p:nvPr/>
        </p:nvSpPr>
        <p:spPr>
          <a:xfrm>
            <a:off x="5431536" y="86868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5559552" y="88696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Tema proiectului &amp; Obiective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559552" y="129844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Scenă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urbană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obiective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tehnice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864608" y="85039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4864608" y="8503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365760" y="210312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9" name="Google Shape;59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488" y="2619757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4"/>
          <p:cNvSpPr/>
          <p:nvPr/>
        </p:nvSpPr>
        <p:spPr>
          <a:xfrm>
            <a:off x="1042416" y="219456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1170432" y="221284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Arhitectura aplicației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1170432" y="262432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Structura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fluxul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date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75488" y="217627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475488" y="2176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754880" y="210312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32604" y="2616942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4"/>
          <p:cNvSpPr/>
          <p:nvPr/>
        </p:nvSpPr>
        <p:spPr>
          <a:xfrm>
            <a:off x="5431536" y="219456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>
            <a:off x="5559552" y="221284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Implementare tehnică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5559552" y="262432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OpenGL,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metode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cheie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864608" y="217627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4864608" y="2176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365760" y="342900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3" name="Google Shape;73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7200" y="3938954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4"/>
          <p:cNvSpPr/>
          <p:nvPr/>
        </p:nvSpPr>
        <p:spPr>
          <a:xfrm>
            <a:off x="1042416" y="352044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"/>
          <p:cNvSpPr/>
          <p:nvPr/>
        </p:nvSpPr>
        <p:spPr>
          <a:xfrm>
            <a:off x="1170432" y="353872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Rezultate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1170432" y="395020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Validare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vizuală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performanță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stabila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" y="350215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"/>
          <p:cNvSpPr/>
          <p:nvPr/>
        </p:nvSpPr>
        <p:spPr>
          <a:xfrm>
            <a:off x="475488" y="350215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754880" y="3429000"/>
            <a:ext cx="4114800" cy="114300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64608" y="395478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4"/>
          <p:cNvSpPr/>
          <p:nvPr/>
        </p:nvSpPr>
        <p:spPr>
          <a:xfrm>
            <a:off x="5431536" y="3520440"/>
            <a:ext cx="45720" cy="96012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5559552" y="3538728"/>
            <a:ext cx="3154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 Concluzii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5559552" y="3950208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Integrare finală, demonstrarea competențelor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864608" y="3502152"/>
            <a:ext cx="347472" cy="347472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4864608" y="350215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Introducere &amp; Configurare Mediu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57200" y="7772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Contextul proiectului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640" y="1188720"/>
            <a:ext cx="384048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12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Aplicație grafică 3D interactivă dezvoltată în C++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548640" y="1536192"/>
            <a:ext cx="384048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12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Utilizează pipeline-ul fix OpenGL 1.1 + FreeGLUT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548640" y="1883664"/>
            <a:ext cx="384048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250"/>
              <a:buFont typeface="Calibri"/>
              <a:buNone/>
            </a:pPr>
            <a:r>
              <a:rPr lang="en-US" sz="1250" b="1" i="0" u="none" strike="noStrike" cap="none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Scena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urbană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animată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în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timp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real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552123" y="2235708"/>
            <a:ext cx="384048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250"/>
              <a:buFont typeface="Calibri"/>
              <a:buNone/>
            </a:pPr>
            <a:r>
              <a:rPr lang="en-US" sz="1250" b="1" i="0" u="none" strike="noStrike" cap="none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2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dezvoltare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: Microsoft Visual Studio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4754880" y="685800"/>
            <a:ext cx="4023360" cy="41605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4937760" y="80467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Stack tehnologic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4910328" y="1225296"/>
            <a:ext cx="512064" cy="512064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" name="Google Shape;102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12741" y="1327709"/>
            <a:ext cx="307238" cy="307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5"/>
          <p:cNvSpPr/>
          <p:nvPr/>
        </p:nvSpPr>
        <p:spPr>
          <a:xfrm>
            <a:off x="5577840" y="1298448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C++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5577840" y="160934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Limbaj principal, performanță ridicată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910328" y="2048256"/>
            <a:ext cx="512064" cy="512064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6" name="Google Shape;106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2741" y="2150669"/>
            <a:ext cx="307238" cy="307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"/>
          <p:cNvSpPr/>
          <p:nvPr/>
        </p:nvSpPr>
        <p:spPr>
          <a:xfrm>
            <a:off x="5577840" y="2121408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OpenGL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5577840" y="243230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Pipeline fix,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randare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2D/3D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910328" y="2871216"/>
            <a:ext cx="512064" cy="512064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0" name="Google Shape;110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12741" y="2973629"/>
            <a:ext cx="307238" cy="30723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5"/>
          <p:cNvSpPr/>
          <p:nvPr/>
        </p:nvSpPr>
        <p:spPr>
          <a:xfrm>
            <a:off x="5577840" y="2944368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FreeGLUT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5577840" y="325526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Ferestre, input, timer callbacks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910328" y="3694176"/>
            <a:ext cx="512064" cy="512064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4" name="Google Shape;114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12741" y="3796589"/>
            <a:ext cx="307238" cy="30723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5"/>
          <p:cNvSpPr/>
          <p:nvPr/>
        </p:nvSpPr>
        <p:spPr>
          <a:xfrm>
            <a:off x="5577840" y="3767328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stb_image.h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5577840" y="407822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Încărcare texturi PNG/BMP/PPM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457200" y="3977640"/>
            <a:ext cx="4023360" cy="36576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Tema Proiectului &amp; Obiective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337624" y="1157771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483928" y="1450379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9" name="Google Shape;129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9026" y="1545477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6"/>
          <p:cNvSpPr/>
          <p:nvPr/>
        </p:nvSpPr>
        <p:spPr>
          <a:xfrm>
            <a:off x="1124008" y="1249211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Cartier procedural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1124008" y="1596683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Algoritmi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randomizare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pentru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etaje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textură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fațadă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726744" y="1157771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4873048" y="1450379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4" name="Google Shape;134;p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68146" y="1545477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/>
          <p:nvPr/>
        </p:nvSpPr>
        <p:spPr>
          <a:xfrm>
            <a:off x="5513128" y="1249211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Iluminare hibridă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513128" y="1596683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Spotlight stradal + lumină punct (jar) + ciclu temporal zi/noapte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337624" y="2328203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483928" y="2620811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9026" y="2715909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"/>
          <p:cNvSpPr/>
          <p:nvPr/>
        </p:nvSpPr>
        <p:spPr>
          <a:xfrm>
            <a:off x="1124008" y="2419643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Sisteme de particule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1124008" y="2767115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Ploaie (1500 picături) + Fum țigară cu Billboarding &amp; Alpha Blend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726744" y="2328203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4873048" y="2620811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4" name="Google Shape;144;p6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68146" y="2715909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6"/>
          <p:cNvSpPr/>
          <p:nvPr/>
        </p:nvSpPr>
        <p:spPr>
          <a:xfrm>
            <a:off x="5513128" y="2419643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Țigară interactivă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5513128" y="2767115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Obiect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3D cu pick-up (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tasta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E)</a:t>
            </a:r>
            <a:r>
              <a:rPr lang="en-US" sz="1100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animație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fumat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tasta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F)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37624" y="3498635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483928" y="3791243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9" name="Google Shape;149;p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9026" y="3886341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6"/>
          <p:cNvSpPr/>
          <p:nvPr/>
        </p:nvSpPr>
        <p:spPr>
          <a:xfrm>
            <a:off x="1124008" y="3590075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Cameră First-Person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1124008" y="3937547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Control WASD + mouse, coliziuni matematice cu pereții balconului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726744" y="3498635"/>
            <a:ext cx="4114800" cy="105156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4873048" y="3791243"/>
            <a:ext cx="475488" cy="475488"/>
          </a:xfrm>
          <a:prstGeom prst="ellipse">
            <a:avLst/>
          </a:prstGeom>
          <a:solidFill>
            <a:srgbClr val="0A8F87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6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968146" y="3886341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6"/>
          <p:cNvSpPr/>
          <p:nvPr/>
        </p:nvSpPr>
        <p:spPr>
          <a:xfrm>
            <a:off x="5513128" y="3590075"/>
            <a:ext cx="3154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Billboard pisică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513128" y="3937547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Textură PNG cu canal Alpha, Alpha Testing pentru contur organic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Google Shape;195;p7"/>
          <p:cNvCxnSpPr/>
          <p:nvPr/>
        </p:nvCxnSpPr>
        <p:spPr>
          <a:xfrm>
            <a:off x="4572000" y="1088136"/>
            <a:ext cx="3063240" cy="694944"/>
          </a:xfrm>
          <a:prstGeom prst="straightConnector1">
            <a:avLst/>
          </a:prstGeom>
          <a:noFill/>
          <a:ln w="15225" cap="flat" cmpd="sng">
            <a:solidFill>
              <a:srgbClr val="00D4C8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62" name="Google Shape;162;p7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Arhitectura Aplicației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65760" y="1737360"/>
            <a:ext cx="2286000" cy="100584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457200" y="2121408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Generare procedurală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blocuri + stradă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1338942" y="3172968"/>
            <a:ext cx="2286000" cy="100584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1338942" y="3172968"/>
            <a:ext cx="2286000" cy="347472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1338942" y="3172968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Rain.h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1430382" y="355701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Sistemul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particule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pentru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ploaie</a:t>
            </a:r>
            <a:endParaRPr lang="en-US" sz="1000" b="0" i="0" u="none" strike="noStrike" cap="none" dirty="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Picaturi</a:t>
            </a:r>
            <a:r>
              <a:rPr lang="en-US" sz="1000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00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ploaie</a:t>
            </a:r>
            <a:r>
              <a:rPr lang="en-US" sz="1000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6534912" y="1737360"/>
            <a:ext cx="2286000" cy="100584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6626352" y="2121408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Balcon,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Stalpi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Billboard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Pisica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5427618" y="3201924"/>
            <a:ext cx="2286000" cy="100584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5427618" y="3201924"/>
            <a:ext cx="2286000" cy="347472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5427618" y="3201924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Player.h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5519058" y="358597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FPS camera, yaw/pitch,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coliziuni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1" name="Google Shape;191;p7"/>
          <p:cNvCxnSpPr/>
          <p:nvPr/>
        </p:nvCxnSpPr>
        <p:spPr>
          <a:xfrm flipH="1">
            <a:off x="1554480" y="1088136"/>
            <a:ext cx="3017520" cy="694944"/>
          </a:xfrm>
          <a:prstGeom prst="straightConnector1">
            <a:avLst/>
          </a:prstGeom>
          <a:noFill/>
          <a:ln w="15225" cap="flat" cmpd="sng">
            <a:solidFill>
              <a:srgbClr val="00D4C8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2" name="Google Shape;192;p7"/>
          <p:cNvCxnSpPr>
            <a:cxnSpLocks/>
            <a:endCxn id="180" idx="0"/>
          </p:cNvCxnSpPr>
          <p:nvPr/>
        </p:nvCxnSpPr>
        <p:spPr>
          <a:xfrm flipH="1">
            <a:off x="2481942" y="1088136"/>
            <a:ext cx="2090058" cy="2084832"/>
          </a:xfrm>
          <a:prstGeom prst="straightConnector1">
            <a:avLst/>
          </a:prstGeom>
          <a:noFill/>
          <a:ln w="15225" cap="flat" cmpd="sng">
            <a:solidFill>
              <a:srgbClr val="00D4C8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" name="Google Shape;193;p7"/>
          <p:cNvCxnSpPr>
            <a:cxnSpLocks/>
            <a:endCxn id="176" idx="0"/>
          </p:cNvCxnSpPr>
          <p:nvPr/>
        </p:nvCxnSpPr>
        <p:spPr>
          <a:xfrm flipH="1">
            <a:off x="4610318" y="923544"/>
            <a:ext cx="4354" cy="997857"/>
          </a:xfrm>
          <a:prstGeom prst="straightConnector1">
            <a:avLst/>
          </a:prstGeom>
          <a:noFill/>
          <a:ln w="15225" cap="flat" cmpd="sng">
            <a:solidFill>
              <a:srgbClr val="00D4C8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6" name="Google Shape;196;p7"/>
          <p:cNvCxnSpPr>
            <a:cxnSpLocks/>
            <a:endCxn id="188" idx="0"/>
          </p:cNvCxnSpPr>
          <p:nvPr/>
        </p:nvCxnSpPr>
        <p:spPr>
          <a:xfrm>
            <a:off x="4572000" y="1088136"/>
            <a:ext cx="1998618" cy="2113788"/>
          </a:xfrm>
          <a:prstGeom prst="straightConnector1">
            <a:avLst/>
          </a:prstGeom>
          <a:noFill/>
          <a:ln w="15225" cap="flat" cmpd="sng">
            <a:solidFill>
              <a:srgbClr val="00D4C8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64" name="Google Shape;164;p7"/>
          <p:cNvSpPr/>
          <p:nvPr/>
        </p:nvSpPr>
        <p:spPr>
          <a:xfrm>
            <a:off x="3291840" y="658368"/>
            <a:ext cx="2560320" cy="868680"/>
          </a:xfrm>
          <a:prstGeom prst="rect">
            <a:avLst/>
          </a:prstGeom>
          <a:solidFill>
            <a:srgbClr val="0A8F87"/>
          </a:solidFill>
          <a:ln>
            <a:noFill/>
          </a:ln>
          <a:effectLst>
            <a:outerShdw blurRad="127000" dist="38100" dir="81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7"/>
          <p:cNvSpPr/>
          <p:nvPr/>
        </p:nvSpPr>
        <p:spPr>
          <a:xfrm>
            <a:off x="3291840" y="65836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main.cpp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3291840" y="105156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Entry point · GLUT callbacks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365760" y="1737360"/>
            <a:ext cx="2286000" cy="347472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365760" y="17373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City.h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3467318" y="1921401"/>
            <a:ext cx="2286000" cy="100584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7"/>
          <p:cNvSpPr/>
          <p:nvPr/>
        </p:nvSpPr>
        <p:spPr>
          <a:xfrm>
            <a:off x="3558758" y="2305449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Sistemul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particule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particule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pentru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fumul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la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tigara</a:t>
            </a:r>
            <a:r>
              <a:rPr lang="en-US" sz="10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+ model </a:t>
            </a:r>
            <a:r>
              <a:rPr lang="en-US" sz="10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tigara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3467318" y="1921401"/>
            <a:ext cx="2286000" cy="347472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3467318" y="1921401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Cigarette.h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534912" y="1737360"/>
            <a:ext cx="2286000" cy="347472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534912" y="17373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Assets.h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Implementare Tehnică — Subsisteme Cheie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320040" y="749808"/>
            <a:ext cx="4069080" cy="23317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320040" y="749808"/>
            <a:ext cx="4069080" cy="475488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1480" y="822960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8"/>
          <p:cNvSpPr/>
          <p:nvPr/>
        </p:nvSpPr>
        <p:spPr>
          <a:xfrm>
            <a:off x="813816" y="813816"/>
            <a:ext cx="3429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Sistemul de Iluminare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02920" y="134416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GL_LIGHT0: ambiental global, variabil cu timeOfDay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502920" y="18562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GL_LIGHT2/3: Spotlight stâlpi, unghi 25°, exp 50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502920" y="236829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GL_LIGHT1: Jar țigară, atenuare cuadratică 5.0f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4663440" y="749808"/>
            <a:ext cx="4069080" cy="23317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663440" y="749808"/>
            <a:ext cx="4069080" cy="475488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4" name="Google Shape;214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54880" y="822960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/>
          <p:nvPr/>
        </p:nvSpPr>
        <p:spPr>
          <a:xfrm>
            <a:off x="5157216" y="813816"/>
            <a:ext cx="3429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Ploaie — 1500 Particule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4846320" y="134416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Generare batch 15/cadru, direcție randomizată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4846320" y="185623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Coliziune cu tavanul balconului (AABB)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4846320" y="236829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Gradient Alpha 0.4→0 + offset vânt (wind drift)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320040" y="2542032"/>
            <a:ext cx="4069080" cy="23317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320040" y="2542032"/>
            <a:ext cx="4069080" cy="475488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1" name="Google Shape;221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1480" y="2615184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"/>
          <p:cNvSpPr/>
          <p:nvPr/>
        </p:nvSpPr>
        <p:spPr>
          <a:xfrm>
            <a:off x="813816" y="2606040"/>
            <a:ext cx="3429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Fum Țigară — Billboarding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502920" y="313639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Extragere vectori right/up din matricea ModelView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502920" y="364845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Alpha Blending GL_SRC_ALPHA, fade-out cu life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502920" y="4160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Intensificare vizuală la modul 'heavySmoke'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663440" y="2542032"/>
            <a:ext cx="4069080" cy="23317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4663440" y="2542032"/>
            <a:ext cx="4069080" cy="475488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8" name="Google Shape;228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54880" y="2615184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8"/>
          <p:cNvSpPr/>
          <p:nvPr/>
        </p:nvSpPr>
        <p:spPr>
          <a:xfrm>
            <a:off x="5157216" y="2606040"/>
            <a:ext cx="3429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Cameră</a:t>
            </a:r>
            <a:r>
              <a:rPr lang="en-US" sz="14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First-Person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846320" y="313639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Mișcare WASD + rotație mouse (yaw/pitch)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4846320" y="364845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Pitch clampat la ±1.5 rad (no flip)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846320" y="4160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Coliziuni: restaurare oldX/oldZ la limita balcon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9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Tehnică</a:t>
            </a: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Texturare</a:t>
            </a: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&amp;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Generare</a:t>
            </a: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Procedurală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320040" y="749808"/>
            <a:ext cx="4069080" cy="41605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320040" y="749808"/>
            <a:ext cx="4069080" cy="457200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Sistemul de texturare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457200" y="13258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Librărie: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1572768" y="132588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stb_image.h — BMP, PPM, PNG cu Alpha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457200" y="1755648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Flip Y: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1572768" y="175564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stbi_set_flip_vertically_on_load(true)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57200" y="2185416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Mod blend: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1572768" y="2185416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GL_SRC_ALPHA / GL_ONE_MINUS_SRC_ALPHA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457200" y="2615184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Skybox: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1572768" y="2615184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PPM → canal R ca transparență nori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457200" y="304495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Clădiri: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1572768" y="3044952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Pool 4 texturi perete + textură intrare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457200" y="34747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Billboard: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572768" y="347472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PNG canal Alpha + Alpha Testing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457200" y="3904488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GL_MODULATE: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1572768" y="39044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Iluminare × textură pentru realism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457200" y="4334256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Fallback: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572768" y="4334256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Culoare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solid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dacă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textura</a:t>
            </a:r>
            <a:r>
              <a:rPr lang="en-US" sz="11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lipsește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63440" y="749808"/>
            <a:ext cx="4069080" cy="4160520"/>
          </a:xfrm>
          <a:prstGeom prst="rect">
            <a:avLst/>
          </a:prstGeom>
          <a:solidFill>
            <a:srgbClr val="182535"/>
          </a:solidFill>
          <a:ln>
            <a:noFill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4663440" y="749808"/>
            <a:ext cx="4069080" cy="457200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4800600" y="749808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Generare Procedurală Oraș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4800600" y="1353312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Clădiri</a:t>
            </a:r>
            <a:r>
              <a:rPr lang="en-US" sz="11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cu 1 - 14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etaje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predefinite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pentru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umplerea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50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scenei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4800600" y="1828800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Amprenta la sol și spațierea generate aleator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800600" y="2304288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Fațade cu textură unică per etaj din pool de 4 texturi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4800600" y="2779776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 dirty="0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Subdivizare</a:t>
            </a:r>
            <a:r>
              <a:rPr lang="en-US" sz="11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sol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în</a:t>
            </a:r>
            <a:r>
              <a:rPr lang="en-US" sz="11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grid </a:t>
            </a:r>
            <a:r>
              <a:rPr lang="en-US" sz="115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1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iluminare</a:t>
            </a:r>
            <a:r>
              <a:rPr lang="en-US" sz="115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spotlight </a:t>
            </a:r>
            <a:r>
              <a:rPr lang="en-US" sz="115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vizibilă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800600" y="3255264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Stradă texturată asfalt umed, subdivizată identic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4800600" y="3730752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Stâlpi de iluminat plasați procedural pe stradă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4800600" y="4206240"/>
            <a:ext cx="374904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Generare o singură dată (init_city()) — reused per frame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161">
          <a:extLst>
            <a:ext uri="{FF2B5EF4-FFF2-40B4-BE49-F238E27FC236}">
              <a16:creationId xmlns:a16="http://schemas.microsoft.com/office/drawing/2014/main" id="{80FD9920-668C-3F69-1965-6F05397C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8;p9">
            <a:extLst>
              <a:ext uri="{FF2B5EF4-FFF2-40B4-BE49-F238E27FC236}">
                <a16:creationId xmlns:a16="http://schemas.microsoft.com/office/drawing/2014/main" id="{A33A3DCF-ECD1-6E5A-08D9-C7ABB0FA129E}"/>
              </a:ext>
            </a:extLst>
          </p:cNvPr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239;p9">
            <a:extLst>
              <a:ext uri="{FF2B5EF4-FFF2-40B4-BE49-F238E27FC236}">
                <a16:creationId xmlns:a16="http://schemas.microsoft.com/office/drawing/2014/main" id="{FFF9CB67-25FA-B0D9-607A-EA1DFEEB7A7C}"/>
              </a:ext>
            </a:extLst>
          </p:cNvPr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n-US" sz="22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-US" sz="22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Rezultate</a:t>
            </a:r>
            <a:endParaRPr sz="2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FC381E-6B30-DF14-FAE4-7CF263E23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404" y="1320702"/>
            <a:ext cx="3298315" cy="25020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782CE0-8140-1EBD-968D-052B651DD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385" y="1384353"/>
            <a:ext cx="3700975" cy="237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904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201168" y="0"/>
            <a:ext cx="54864" cy="51435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621792" y="146304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 Concluzii Generale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5" name="Google Shape;295;p11" descr="preencoded.png"/>
          <p:cNvPicPr preferRelativeResize="0"/>
          <p:nvPr/>
        </p:nvPicPr>
        <p:blipFill rotWithShape="1">
          <a:blip r:embed="rId3">
            <a:alphaModFix amt="80000"/>
          </a:blip>
          <a:srcRect/>
          <a:stretch/>
        </p:blipFill>
        <p:spPr>
          <a:xfrm>
            <a:off x="530352" y="92002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1"/>
          <p:cNvSpPr/>
          <p:nvPr/>
        </p:nvSpPr>
        <p:spPr>
          <a:xfrm>
            <a:off x="987552" y="874308"/>
            <a:ext cx="45720" cy="64008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/>
          <p:nvPr/>
        </p:nvSpPr>
        <p:spPr>
          <a:xfrm>
            <a:off x="1143000" y="874308"/>
            <a:ext cx="450871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Integrare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completă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conceptelor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EGC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143000" y="1176060"/>
            <a:ext cx="4508718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Geometrie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3D,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iluminare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texturare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particule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și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interacțiune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11" descr="preencoded.png"/>
          <p:cNvPicPr preferRelativeResize="0"/>
          <p:nvPr/>
        </p:nvPicPr>
        <p:blipFill rotWithShape="1">
          <a:blip r:embed="rId4">
            <a:alphaModFix amt="80000"/>
          </a:blip>
          <a:srcRect/>
          <a:stretch/>
        </p:blipFill>
        <p:spPr>
          <a:xfrm>
            <a:off x="530352" y="172470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1"/>
          <p:cNvSpPr/>
          <p:nvPr/>
        </p:nvSpPr>
        <p:spPr>
          <a:xfrm>
            <a:off x="987552" y="1678980"/>
            <a:ext cx="45720" cy="64008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1143000" y="1678980"/>
            <a:ext cx="450871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urban procedural realist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1143000" y="1980732"/>
            <a:ext cx="4508718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Cartier de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blocuri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unic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fiecare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rulare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iluminare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stradală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ciclu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zi-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noapte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3" name="Google Shape;303;p11" descr="preencoded.png"/>
          <p:cNvPicPr preferRelativeResize="0"/>
          <p:nvPr/>
        </p:nvPicPr>
        <p:blipFill rotWithShape="1">
          <a:blip r:embed="rId5">
            <a:alphaModFix amt="80000"/>
          </a:blip>
          <a:srcRect/>
          <a:stretch/>
        </p:blipFill>
        <p:spPr>
          <a:xfrm>
            <a:off x="530352" y="25293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11"/>
          <p:cNvSpPr/>
          <p:nvPr/>
        </p:nvSpPr>
        <p:spPr>
          <a:xfrm>
            <a:off x="987552" y="2483652"/>
            <a:ext cx="45720" cy="64008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1143000" y="2483652"/>
            <a:ext cx="450871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Sisteme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particule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funcționale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1143000" y="2785404"/>
            <a:ext cx="4508718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Ploaie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cu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coliziuni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fizice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și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fum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cu billboarding &amp; alpha blending.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7" name="Google Shape;307;p11" descr="preencoded.png"/>
          <p:cNvPicPr preferRelativeResize="0"/>
          <p:nvPr/>
        </p:nvPicPr>
        <p:blipFill rotWithShape="1">
          <a:blip r:embed="rId6">
            <a:alphaModFix amt="80000"/>
          </a:blip>
          <a:srcRect/>
          <a:stretch/>
        </p:blipFill>
        <p:spPr>
          <a:xfrm>
            <a:off x="530352" y="333404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1"/>
          <p:cNvSpPr/>
          <p:nvPr/>
        </p:nvSpPr>
        <p:spPr>
          <a:xfrm>
            <a:off x="987552" y="3288324"/>
            <a:ext cx="45720" cy="64008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1"/>
          <p:cNvSpPr/>
          <p:nvPr/>
        </p:nvSpPr>
        <p:spPr>
          <a:xfrm>
            <a:off x="1143000" y="3329473"/>
            <a:ext cx="499262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Arhitectură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modulară</a:t>
            </a:r>
            <a:r>
              <a:rPr lang="en-US" sz="135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și </a:t>
            </a: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extensibilă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1143000" y="3610651"/>
            <a:ext cx="4992624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Fișiere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header separate per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subsistem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cod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organizat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orientat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pe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obiecte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1" name="Google Shape;311;p11" descr="preencoded.png"/>
          <p:cNvPicPr preferRelativeResize="0"/>
          <p:nvPr/>
        </p:nvPicPr>
        <p:blipFill rotWithShape="1">
          <a:blip r:embed="rId7">
            <a:alphaModFix amt="80000"/>
          </a:blip>
          <a:srcRect/>
          <a:stretch/>
        </p:blipFill>
        <p:spPr>
          <a:xfrm>
            <a:off x="530352" y="413871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11"/>
          <p:cNvSpPr/>
          <p:nvPr/>
        </p:nvSpPr>
        <p:spPr>
          <a:xfrm>
            <a:off x="987552" y="4092996"/>
            <a:ext cx="45720" cy="64008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1"/>
          <p:cNvSpPr/>
          <p:nvPr/>
        </p:nvSpPr>
        <p:spPr>
          <a:xfrm>
            <a:off x="1143000" y="4092996"/>
            <a:ext cx="450871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lang="en-US" sz="135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Rezultate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/>
          <p:nvPr/>
        </p:nvSpPr>
        <p:spPr>
          <a:xfrm>
            <a:off x="1143000" y="4394748"/>
            <a:ext cx="4508718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60 FPS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stabil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fără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memory leaks,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toate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componentele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validate individual.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8F87"/>
          </a:solidFill>
          <a:ln w="12700" cap="flat" cmpd="sng">
            <a:solidFill>
              <a:srgbClr val="0A8F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219456" y="4389120"/>
            <a:ext cx="8924544" cy="91440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457200" y="27432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D4C8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00D4C8"/>
                </a:solidFill>
                <a:latin typeface="Calibri"/>
                <a:ea typeface="Calibri"/>
                <a:cs typeface="Calibri"/>
                <a:sym typeface="Calibri"/>
              </a:rPr>
              <a:t>Universitatea Transilvania din Brașov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59436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Facultatea IESC · Dept. Automatică și TI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851660" y="1619141"/>
            <a:ext cx="5660136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lang="en-US" sz="3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Multumesc pentru </a:t>
            </a:r>
            <a:r>
              <a:rPr lang="en-US" sz="38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atentie</a:t>
            </a:r>
            <a:r>
              <a:rPr lang="en-US" sz="3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endParaRPr sz="3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1781991" y="2428385"/>
            <a:ext cx="5566518" cy="49638"/>
          </a:xfrm>
          <a:prstGeom prst="rect">
            <a:avLst/>
          </a:prstGeom>
          <a:solidFill>
            <a:srgbClr val="00D4C8"/>
          </a:solidFill>
          <a:ln w="12700" cap="flat" cmpd="sng">
            <a:solidFill>
              <a:srgbClr val="00D4C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2750457" y="3698746"/>
            <a:ext cx="364308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Proiect</a:t>
            </a:r>
            <a:r>
              <a:rPr lang="en-US" sz="14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EGC · </a:t>
            </a:r>
            <a:r>
              <a:rPr lang="en-US" sz="14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Elemente</a:t>
            </a:r>
            <a:r>
              <a:rPr lang="en-US" sz="14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4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Grafică</a:t>
            </a:r>
            <a:r>
              <a:rPr lang="en-US" sz="14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 pe Calculator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3"/>
          <p:cNvSpPr/>
          <p:nvPr/>
        </p:nvSpPr>
        <p:spPr>
          <a:xfrm>
            <a:off x="2834421" y="2665477"/>
            <a:ext cx="346165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Vatajita Teodor-Florin  ·  Gr. 4LF342, TI II  ·  </a:t>
            </a:r>
            <a:r>
              <a:rPr lang="en-US" sz="1100" b="0" i="0" u="none" strike="noStrike" cap="none" dirty="0" err="1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Brașov</a:t>
            </a:r>
            <a:r>
              <a:rPr lang="en-US" sz="1100" b="0" i="0" u="none" strike="noStrike" cap="none" dirty="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, 2026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70963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780</Words>
  <Application>Microsoft Office PowerPoint</Application>
  <PresentationFormat>On-screen Show (16:9)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Teodor Vatajita</cp:lastModifiedBy>
  <cp:revision>40</cp:revision>
  <dcterms:modified xsi:type="dcterms:W3CDTF">2026-05-25T08:41:41Z</dcterms:modified>
</cp:coreProperties>
</file>